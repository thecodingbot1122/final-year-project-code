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2918400" cy="21945600"/>
  <p:notesSz cx="7315200" cy="9601200"/>
  <p:defaultTextStyle>
    <a:defPPr>
      <a:defRPr lang="en-US"/>
    </a:defPPr>
    <a:lvl1pPr marL="0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53099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706199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559298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4123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2654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51185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971696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824795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rof. Ghassan AlRegib" initials="Ghassan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79646"/>
    <a:srgbClr val="FFFEE8"/>
    <a:srgbClr val="EBF1DE"/>
    <a:srgbClr val="176939"/>
    <a:srgbClr val="0066FF"/>
    <a:srgbClr val="FFCC00"/>
    <a:srgbClr val="EEC1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99" autoAdjust="0"/>
    <p:restoredTop sz="92767" autoAdjust="0"/>
  </p:normalViewPr>
  <p:slideViewPr>
    <p:cSldViewPr>
      <p:cViewPr>
        <p:scale>
          <a:sx n="25" d="100"/>
          <a:sy n="25" d="100"/>
        </p:scale>
        <p:origin x="884" y="-672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BF90A-7792-4EE8-9922-DC9746CD6B9F}" type="datetimeFigureOut">
              <a:rPr lang="zh-CN" altLang="en-US" smtClean="0"/>
              <a:pPr/>
              <a:t>2026/5/2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7138" y="1200150"/>
            <a:ext cx="486092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A8F6A-EE81-49D6-864B-87069957DB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23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A8F6A-EE81-49D6-864B-87069957DBA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05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5"/>
            <a:ext cx="27980640" cy="47040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530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0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559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12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2654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118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971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824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20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1"/>
            <a:ext cx="27980640" cy="4358640"/>
          </a:xfrm>
        </p:spPr>
        <p:txBody>
          <a:bodyPr anchor="t"/>
          <a:lstStyle>
            <a:lvl1pPr algn="l">
              <a:defRPr sz="7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6"/>
            <a:ext cx="27980640" cy="4800597"/>
          </a:xfrm>
        </p:spPr>
        <p:txBody>
          <a:bodyPr anchor="b"/>
          <a:lstStyle>
            <a:lvl1pPr marL="0" indent="0">
              <a:buNone/>
              <a:defRPr sz="3700">
                <a:solidFill>
                  <a:schemeClr val="tx1">
                    <a:tint val="75000"/>
                  </a:schemeClr>
                </a:solidFill>
              </a:defRPr>
            </a:lvl1pPr>
            <a:lvl2pPr marL="853099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2pPr>
            <a:lvl3pPr marL="1706199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3pPr>
            <a:lvl4pPr marL="2559298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4pPr>
            <a:lvl5pPr marL="34123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5pPr>
            <a:lvl6pPr marL="42654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6pPr>
            <a:lvl7pPr marL="51185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7pPr>
            <a:lvl8pPr marL="5971696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8pPr>
            <a:lvl9pPr marL="6824795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93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29251" y="6827522"/>
            <a:ext cx="48611791" cy="19309083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37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89681" y="6827522"/>
            <a:ext cx="48611791" cy="19309083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37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96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878841"/>
            <a:ext cx="29626560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1"/>
            <a:ext cx="14544676" cy="2047239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53099" indent="0">
              <a:buNone/>
              <a:defRPr sz="3700" b="1"/>
            </a:lvl2pPr>
            <a:lvl3pPr marL="1706199" indent="0">
              <a:buNone/>
              <a:defRPr sz="3300" b="1"/>
            </a:lvl3pPr>
            <a:lvl4pPr marL="2559298" indent="0">
              <a:buNone/>
              <a:defRPr sz="3000" b="1"/>
            </a:lvl4pPr>
            <a:lvl5pPr marL="3412397" indent="0">
              <a:buNone/>
              <a:defRPr sz="3000" b="1"/>
            </a:lvl5pPr>
            <a:lvl6pPr marL="4265497" indent="0">
              <a:buNone/>
              <a:defRPr sz="3000" b="1"/>
            </a:lvl6pPr>
            <a:lvl7pPr marL="5118597" indent="0">
              <a:buNone/>
              <a:defRPr sz="3000" b="1"/>
            </a:lvl7pPr>
            <a:lvl8pPr marL="5971696" indent="0">
              <a:buNone/>
              <a:defRPr sz="3000" b="1"/>
            </a:lvl8pPr>
            <a:lvl9pPr marL="6824795" indent="0">
              <a:buNone/>
              <a:defRPr sz="3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6" cy="12644121"/>
          </a:xfrm>
        </p:spPr>
        <p:txBody>
          <a:bodyPr/>
          <a:lstStyle>
            <a:lvl1pPr>
              <a:defRPr sz="4500"/>
            </a:lvl1pPr>
            <a:lvl2pPr>
              <a:defRPr sz="37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4912361"/>
            <a:ext cx="14550391" cy="2047239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53099" indent="0">
              <a:buNone/>
              <a:defRPr sz="3700" b="1"/>
            </a:lvl2pPr>
            <a:lvl3pPr marL="1706199" indent="0">
              <a:buNone/>
              <a:defRPr sz="3300" b="1"/>
            </a:lvl3pPr>
            <a:lvl4pPr marL="2559298" indent="0">
              <a:buNone/>
              <a:defRPr sz="3000" b="1"/>
            </a:lvl4pPr>
            <a:lvl5pPr marL="3412397" indent="0">
              <a:buNone/>
              <a:defRPr sz="3000" b="1"/>
            </a:lvl5pPr>
            <a:lvl6pPr marL="4265497" indent="0">
              <a:buNone/>
              <a:defRPr sz="3000" b="1"/>
            </a:lvl6pPr>
            <a:lvl7pPr marL="5118597" indent="0">
              <a:buNone/>
              <a:defRPr sz="3000" b="1"/>
            </a:lvl7pPr>
            <a:lvl8pPr marL="5971696" indent="0">
              <a:buNone/>
              <a:defRPr sz="3000" b="1"/>
            </a:lvl8pPr>
            <a:lvl9pPr marL="6824795" indent="0">
              <a:buNone/>
              <a:defRPr sz="3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6959600"/>
            <a:ext cx="14550391" cy="12644121"/>
          </a:xfrm>
        </p:spPr>
        <p:txBody>
          <a:bodyPr/>
          <a:lstStyle>
            <a:lvl1pPr>
              <a:defRPr sz="4500"/>
            </a:lvl1pPr>
            <a:lvl2pPr>
              <a:defRPr sz="37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47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95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9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4" y="873761"/>
            <a:ext cx="10829927" cy="3718560"/>
          </a:xfrm>
        </p:spPr>
        <p:txBody>
          <a:bodyPr anchor="b"/>
          <a:lstStyle>
            <a:lvl1pPr algn="l">
              <a:defRPr sz="3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2" y="873763"/>
            <a:ext cx="18402300" cy="18729963"/>
          </a:xfrm>
        </p:spPr>
        <p:txBody>
          <a:bodyPr/>
          <a:lstStyle>
            <a:lvl1pPr>
              <a:defRPr sz="6000"/>
            </a:lvl1pPr>
            <a:lvl2pPr>
              <a:defRPr sz="5200"/>
            </a:lvl2pPr>
            <a:lvl3pPr>
              <a:defRPr sz="4500"/>
            </a:lvl3pPr>
            <a:lvl4pPr>
              <a:defRPr sz="3700"/>
            </a:lvl4pPr>
            <a:lvl5pPr>
              <a:defRPr sz="3700"/>
            </a:lvl5pPr>
            <a:lvl6pPr>
              <a:defRPr sz="3700"/>
            </a:lvl6pPr>
            <a:lvl7pPr>
              <a:defRPr sz="3700"/>
            </a:lvl7pPr>
            <a:lvl8pPr>
              <a:defRPr sz="3700"/>
            </a:lvl8pPr>
            <a:lvl9pPr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4" y="4592323"/>
            <a:ext cx="10829927" cy="15011403"/>
          </a:xfrm>
        </p:spPr>
        <p:txBody>
          <a:bodyPr/>
          <a:lstStyle>
            <a:lvl1pPr marL="0" indent="0">
              <a:buNone/>
              <a:defRPr sz="2600"/>
            </a:lvl1pPr>
            <a:lvl2pPr marL="853099" indent="0">
              <a:buNone/>
              <a:defRPr sz="2200"/>
            </a:lvl2pPr>
            <a:lvl3pPr marL="1706199" indent="0">
              <a:buNone/>
              <a:defRPr sz="1900"/>
            </a:lvl3pPr>
            <a:lvl4pPr marL="2559298" indent="0">
              <a:buNone/>
              <a:defRPr sz="1700"/>
            </a:lvl4pPr>
            <a:lvl5pPr marL="3412397" indent="0">
              <a:buNone/>
              <a:defRPr sz="1700"/>
            </a:lvl5pPr>
            <a:lvl6pPr marL="4265497" indent="0">
              <a:buNone/>
              <a:defRPr sz="1700"/>
            </a:lvl6pPr>
            <a:lvl7pPr marL="5118597" indent="0">
              <a:buNone/>
              <a:defRPr sz="1700"/>
            </a:lvl7pPr>
            <a:lvl8pPr marL="5971696" indent="0">
              <a:buNone/>
              <a:defRPr sz="1700"/>
            </a:lvl8pPr>
            <a:lvl9pPr marL="6824795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7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6" y="15361922"/>
            <a:ext cx="19751040" cy="1813563"/>
          </a:xfrm>
        </p:spPr>
        <p:txBody>
          <a:bodyPr anchor="b"/>
          <a:lstStyle>
            <a:lvl1pPr algn="l">
              <a:defRPr sz="3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6" y="1960879"/>
            <a:ext cx="19751040" cy="13167360"/>
          </a:xfrm>
        </p:spPr>
        <p:txBody>
          <a:bodyPr/>
          <a:lstStyle>
            <a:lvl1pPr marL="0" indent="0">
              <a:buNone/>
              <a:defRPr sz="6000"/>
            </a:lvl1pPr>
            <a:lvl2pPr marL="853099" indent="0">
              <a:buNone/>
              <a:defRPr sz="5200"/>
            </a:lvl2pPr>
            <a:lvl3pPr marL="1706199" indent="0">
              <a:buNone/>
              <a:defRPr sz="4500"/>
            </a:lvl3pPr>
            <a:lvl4pPr marL="2559298" indent="0">
              <a:buNone/>
              <a:defRPr sz="3700"/>
            </a:lvl4pPr>
            <a:lvl5pPr marL="3412397" indent="0">
              <a:buNone/>
              <a:defRPr sz="3700"/>
            </a:lvl5pPr>
            <a:lvl6pPr marL="4265497" indent="0">
              <a:buNone/>
              <a:defRPr sz="3700"/>
            </a:lvl6pPr>
            <a:lvl7pPr marL="5118597" indent="0">
              <a:buNone/>
              <a:defRPr sz="3700"/>
            </a:lvl7pPr>
            <a:lvl8pPr marL="5971696" indent="0">
              <a:buNone/>
              <a:defRPr sz="3700"/>
            </a:lvl8pPr>
            <a:lvl9pPr marL="6824795" indent="0">
              <a:buNone/>
              <a:defRPr sz="3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6" y="17175485"/>
            <a:ext cx="19751040" cy="2575557"/>
          </a:xfrm>
        </p:spPr>
        <p:txBody>
          <a:bodyPr/>
          <a:lstStyle>
            <a:lvl1pPr marL="0" indent="0">
              <a:buNone/>
              <a:defRPr sz="2600"/>
            </a:lvl1pPr>
            <a:lvl2pPr marL="853099" indent="0">
              <a:buNone/>
              <a:defRPr sz="2200"/>
            </a:lvl2pPr>
            <a:lvl3pPr marL="1706199" indent="0">
              <a:buNone/>
              <a:defRPr sz="1900"/>
            </a:lvl3pPr>
            <a:lvl4pPr marL="2559298" indent="0">
              <a:buNone/>
              <a:defRPr sz="1700"/>
            </a:lvl4pPr>
            <a:lvl5pPr marL="3412397" indent="0">
              <a:buNone/>
              <a:defRPr sz="1700"/>
            </a:lvl5pPr>
            <a:lvl6pPr marL="4265497" indent="0">
              <a:buNone/>
              <a:defRPr sz="1700"/>
            </a:lvl6pPr>
            <a:lvl7pPr marL="5118597" indent="0">
              <a:buNone/>
              <a:defRPr sz="1700"/>
            </a:lvl7pPr>
            <a:lvl8pPr marL="5971696" indent="0">
              <a:buNone/>
              <a:defRPr sz="1700"/>
            </a:lvl8pPr>
            <a:lvl9pPr marL="6824795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6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19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758419" y="1173483"/>
            <a:ext cx="24443053" cy="249631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29253" y="1173483"/>
            <a:ext cx="72780527" cy="249631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4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878841"/>
            <a:ext cx="29626560" cy="3657600"/>
          </a:xfrm>
          <a:prstGeom prst="rect">
            <a:avLst/>
          </a:prstGeom>
        </p:spPr>
        <p:txBody>
          <a:bodyPr vert="horz" lIns="170620" tIns="85310" rIns="170620" bIns="8531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5120644"/>
            <a:ext cx="29626560" cy="14483081"/>
          </a:xfrm>
          <a:prstGeom prst="rect">
            <a:avLst/>
          </a:prstGeom>
        </p:spPr>
        <p:txBody>
          <a:bodyPr vert="horz" lIns="170620" tIns="85310" rIns="170620" bIns="8531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20340323"/>
            <a:ext cx="76809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l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20340323"/>
            <a:ext cx="104241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ct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20340323"/>
            <a:ext cx="76809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85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06199" rtl="0" eaLnBrk="1" latinLnBrk="0" hangingPunct="1">
        <a:spcBef>
          <a:spcPct val="0"/>
        </a:spcBef>
        <a:buNone/>
        <a:defRPr sz="8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9825" indent="-639825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1pPr>
      <a:lvl2pPr marL="1386286" indent="-533187" algn="l" defTabSz="1706199" rtl="0" eaLnBrk="1" latinLnBrk="0" hangingPunct="1">
        <a:spcBef>
          <a:spcPct val="20000"/>
        </a:spcBef>
        <a:buFont typeface="Arial" panose="020B0604020202020204" pitchFamily="34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2pPr>
      <a:lvl3pPr marL="21327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29858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4pPr>
      <a:lvl5pPr marL="38389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»"/>
        <a:defRPr sz="3700" kern="1200">
          <a:solidFill>
            <a:schemeClr val="tx1"/>
          </a:solidFill>
          <a:latin typeface="+mn-lt"/>
          <a:ea typeface="+mn-ea"/>
          <a:cs typeface="+mn-cs"/>
        </a:defRPr>
      </a:lvl5pPr>
      <a:lvl6pPr marL="4692047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6pPr>
      <a:lvl7pPr marL="5545146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7pPr>
      <a:lvl8pPr marL="6398246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8pPr>
      <a:lvl9pPr marL="7251345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853099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706199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3pPr>
      <a:lvl4pPr marL="2559298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4123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2654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51185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971696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824795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aengr.zain@iub.edu.pk" TargetMode="Externa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/>
        </p:nvSpPr>
        <p:spPr>
          <a:xfrm>
            <a:off x="282305" y="4008169"/>
            <a:ext cx="10639425" cy="898918"/>
          </a:xfrm>
          <a:prstGeom prst="rect">
            <a:avLst/>
          </a:prstGeom>
          <a:solidFill>
            <a:schemeClr val="accent2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289" y="4907664"/>
            <a:ext cx="10632593" cy="549750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66799" y="690692"/>
            <a:ext cx="31165799" cy="3301772"/>
          </a:xfrm>
          <a:prstGeom prst="rect">
            <a:avLst/>
          </a:prstGeom>
          <a:noFill/>
        </p:spPr>
        <p:txBody>
          <a:bodyPr wrap="square" lIns="69440" tIns="34720" rIns="69440" bIns="34720" rtlCol="0">
            <a:spAutoFit/>
          </a:bodyPr>
          <a:lstStyle/>
          <a:p>
            <a:pPr algn="ctr"/>
            <a:r>
              <a:rPr lang="en-US" sz="4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VISION-BASED MANUAL/Automatic Robotics Manipulator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Imran Nazir (F22BINCE1M02021), Muhammad Zulqarnain (F22BINCE1M02001), and Waqas Ajaz (F22BINCE1M02006)</a:t>
            </a:r>
          </a:p>
          <a:p>
            <a:pPr algn="ctr"/>
            <a:r>
              <a:rPr lang="en-US" sz="36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{021engr.imran, alkarimroboticsofficial, itwithwaqas}@gmail.com</a:t>
            </a:r>
          </a:p>
          <a:p>
            <a:pPr algn="ctr"/>
            <a:endParaRPr lang="en-US" sz="1200" b="1" dirty="0">
              <a:latin typeface="Arial" pitchFamily="34" charset="0"/>
              <a:ea typeface="+mj-ea"/>
              <a:cs typeface="Arial" pitchFamily="34" charset="0"/>
            </a:endParaRPr>
          </a:p>
          <a:p>
            <a:pPr algn="ctr"/>
            <a:r>
              <a:rPr lang="en-US" sz="2800" b="1" dirty="0">
                <a:latin typeface="Arial" pitchFamily="34" charset="0"/>
                <a:ea typeface="+mj-ea"/>
                <a:cs typeface="Arial" pitchFamily="34" charset="0"/>
              </a:rPr>
              <a:t>DEPARTMENT OF INFORMTION AND COMMUNICATION ENGINEERING</a:t>
            </a:r>
          </a:p>
          <a:p>
            <a:pPr algn="ctr"/>
            <a:r>
              <a:rPr lang="en-US" sz="2800" b="1" dirty="0">
                <a:latin typeface="Arial" pitchFamily="34" charset="0"/>
                <a:ea typeface="+mj-ea"/>
                <a:cs typeface="Arial" pitchFamily="34" charset="0"/>
              </a:rPr>
              <a:t>BS Intelligent Systems and Robotics</a:t>
            </a:r>
          </a:p>
          <a:p>
            <a:pPr algn="ctr"/>
            <a:r>
              <a:rPr lang="en-US" sz="30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The Islamia University of Bahawalpur, Pakistan</a:t>
            </a:r>
            <a:endParaRPr lang="ar-SA" sz="3000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8" name="Title 1"/>
          <p:cNvSpPr>
            <a:spLocks noGrp="1"/>
          </p:cNvSpPr>
          <p:nvPr/>
        </p:nvSpPr>
        <p:spPr>
          <a:xfrm>
            <a:off x="11174369" y="4035594"/>
            <a:ext cx="11380831" cy="89891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Systematic  Diagram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72847" y="4956377"/>
            <a:ext cx="11382353" cy="1645582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2829359" y="9320789"/>
            <a:ext cx="9868094" cy="6993119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Title 1"/>
          <p:cNvSpPr>
            <a:spLocks noGrp="1"/>
          </p:cNvSpPr>
          <p:nvPr/>
        </p:nvSpPr>
        <p:spPr>
          <a:xfrm>
            <a:off x="22783800" y="4035594"/>
            <a:ext cx="9884304" cy="84458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Experimental Results and Discussion</a:t>
            </a:r>
          </a:p>
        </p:txBody>
      </p:sp>
      <p:sp>
        <p:nvSpPr>
          <p:cNvPr id="186" name="TextBox 5"/>
          <p:cNvSpPr txBox="1"/>
          <p:nvPr/>
        </p:nvSpPr>
        <p:spPr>
          <a:xfrm>
            <a:off x="373413" y="12140625"/>
            <a:ext cx="3679472" cy="58477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System Architecture 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2783800" y="4876801"/>
            <a:ext cx="9884304" cy="323395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itle 1"/>
          <p:cNvSpPr>
            <a:spLocks noGrp="1"/>
          </p:cNvSpPr>
          <p:nvPr/>
        </p:nvSpPr>
        <p:spPr>
          <a:xfrm>
            <a:off x="22817164" y="8467942"/>
            <a:ext cx="9884305" cy="91901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Conclusion and Perspectives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1803" y="17309869"/>
            <a:ext cx="5094293" cy="16951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080442"/>
              </p:ext>
            </p:extLst>
          </p:nvPr>
        </p:nvGraphicFramePr>
        <p:xfrm>
          <a:off x="11680029" y="17497189"/>
          <a:ext cx="10265571" cy="352192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827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73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Cost in (PKR)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System Architecture (Sensors, Power Supply)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20,000/-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Control &amp; Decision Logic (ESP32)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3000/-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Robotics Manipulator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15,000/-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Mobile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7000/-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Miscellaneous (Wires, Soldering, Connectors, Housing, etc.)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5000/-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Total</a:t>
                      </a:r>
                      <a:endParaRPr lang="en-US" sz="2400" b="1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50,000/-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1361911" y="17261399"/>
            <a:ext cx="10871208" cy="399350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402996" y="8354683"/>
            <a:ext cx="10219535" cy="18753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5"/>
          <p:cNvSpPr txBox="1"/>
          <p:nvPr/>
        </p:nvSpPr>
        <p:spPr>
          <a:xfrm>
            <a:off x="402996" y="7760560"/>
            <a:ext cx="425689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Project Objectives</a:t>
            </a:r>
          </a:p>
        </p:txBody>
      </p:sp>
      <p:sp>
        <p:nvSpPr>
          <p:cNvPr id="69" name="TextBox 5"/>
          <p:cNvSpPr txBox="1"/>
          <p:nvPr/>
        </p:nvSpPr>
        <p:spPr>
          <a:xfrm>
            <a:off x="752962" y="8497067"/>
            <a:ext cx="10219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+mn-lt"/>
              </a:rPr>
              <a:t>Develop a reliable and low-cost robotic platform for landmine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+mn-lt"/>
              </a:rPr>
              <a:t>A dual-microcontroller architecture efficiently balances web hosting, video streaming, and hardware control.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+mn-lt"/>
              </a:rPr>
              <a:t>Feature Dual-Mode Camera-assisted Manual and automatic operation.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+mn-lt"/>
              </a:rPr>
              <a:t>Achieve real-time coordination to stop movement and activate the manipulator arm.</a:t>
            </a:r>
            <a:endParaRPr lang="en-GB" sz="2400" dirty="0"/>
          </a:p>
        </p:txBody>
      </p:sp>
      <p:sp>
        <p:nvSpPr>
          <p:cNvPr id="78" name="TextBox 5"/>
          <p:cNvSpPr txBox="1"/>
          <p:nvPr/>
        </p:nvSpPr>
        <p:spPr>
          <a:xfrm>
            <a:off x="282305" y="21508790"/>
            <a:ext cx="18048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r>
              <a:rPr lang="en-US" sz="2000" i="1" dirty="0">
                <a:latin typeface="+mn-lt"/>
              </a:rPr>
              <a:t>Final Year Project Exhibition,  4 Mat 2026, Faculty of Engineering, The Islamia University of Bahawalpur, Pakistan. </a:t>
            </a:r>
          </a:p>
        </p:txBody>
      </p:sp>
      <p:sp>
        <p:nvSpPr>
          <p:cNvPr id="64" name="TextBox 5"/>
          <p:cNvSpPr txBox="1"/>
          <p:nvPr/>
        </p:nvSpPr>
        <p:spPr>
          <a:xfrm>
            <a:off x="11359942" y="16706149"/>
            <a:ext cx="2675447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Project Cost 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726132" y="18652389"/>
            <a:ext cx="9941972" cy="27598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Rectangle 130"/>
          <p:cNvSpPr/>
          <p:nvPr/>
        </p:nvSpPr>
        <p:spPr>
          <a:xfrm>
            <a:off x="11469496" y="5187468"/>
            <a:ext cx="1708030" cy="4150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2065624" y="6756177"/>
            <a:ext cx="1969765" cy="281481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21" name="Picture 2" descr="Logo&#10;&#10;Description automatically generated">
            <a:extLst>
              <a:ext uri="{FF2B5EF4-FFF2-40B4-BE49-F238E27FC236}">
                <a16:creationId xmlns:a16="http://schemas.microsoft.com/office/drawing/2014/main" id="{0408D38C-DE3F-40EE-BD88-A5B2567D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519" y="533400"/>
            <a:ext cx="3356908" cy="3261953"/>
          </a:xfrm>
          <a:prstGeom prst="rect">
            <a:avLst/>
          </a:prstGeom>
          <a:noFill/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8B46EAE6-A973-4823-999A-892C3A38C076}"/>
              </a:ext>
            </a:extLst>
          </p:cNvPr>
          <p:cNvSpPr/>
          <p:nvPr/>
        </p:nvSpPr>
        <p:spPr>
          <a:xfrm>
            <a:off x="402997" y="5030375"/>
            <a:ext cx="994582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Landmines remain a severe hazard in many regions, making conventional detection methods dangerous, time-consuming, and heavily dependent on human effort.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To eliminates human risk by using an advanced robot to detect metallic objects autonomously or via remote control.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Dual microcontrollers, live visuals, and automated marking make this landmine clearance system faster and safer..</a:t>
            </a:r>
            <a:endParaRPr lang="en-US" sz="2400" b="1" dirty="0">
              <a:ea typeface="ＭＳ Ｐゴシック" charset="0"/>
            </a:endParaRPr>
          </a:p>
        </p:txBody>
      </p:sp>
      <p:sp>
        <p:nvSpPr>
          <p:cNvPr id="125" name="TextBox 5">
            <a:extLst>
              <a:ext uri="{FF2B5EF4-FFF2-40B4-BE49-F238E27FC236}">
                <a16:creationId xmlns:a16="http://schemas.microsoft.com/office/drawing/2014/main" id="{DC7F8C09-A71E-4B57-BA59-CA2E14FAC167}"/>
              </a:ext>
            </a:extLst>
          </p:cNvPr>
          <p:cNvSpPr txBox="1"/>
          <p:nvPr/>
        </p:nvSpPr>
        <p:spPr>
          <a:xfrm>
            <a:off x="22700577" y="18624044"/>
            <a:ext cx="99822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algn="ctr"/>
            <a:r>
              <a:rPr lang="en-US" sz="2200" b="1" dirty="0">
                <a:latin typeface="+mn-lt"/>
              </a:rPr>
              <a:t>Supervisor: </a:t>
            </a:r>
          </a:p>
          <a:p>
            <a:pPr algn="ctr"/>
            <a:r>
              <a:rPr lang="en-US" sz="2200" dirty="0">
                <a:latin typeface="+mn-lt"/>
              </a:rPr>
              <a:t>Dr. Zain Ul Abiden Akhtar(</a:t>
            </a:r>
            <a:r>
              <a:rPr lang="en-US" sz="2200" i="1" dirty="0">
                <a:latin typeface="+mn-lt"/>
              </a:rPr>
              <a:t>Assistant Professor</a:t>
            </a:r>
            <a:r>
              <a:rPr lang="en-US" sz="2200" dirty="0">
                <a:latin typeface="+mn-lt"/>
              </a:rPr>
              <a:t>)</a:t>
            </a:r>
          </a:p>
          <a:p>
            <a:pPr algn="ctr"/>
            <a:r>
              <a:rPr lang="en-US" sz="2200" dirty="0"/>
              <a:t>Information and Communication Engineering Department</a:t>
            </a:r>
          </a:p>
          <a:p>
            <a:pPr algn="ctr"/>
            <a:r>
              <a:rPr lang="en-US" sz="2200" dirty="0">
                <a:latin typeface="+mn-lt"/>
              </a:rPr>
              <a:t>Email: </a:t>
            </a:r>
            <a:r>
              <a:rPr lang="en-US" sz="2200" dirty="0">
                <a:latin typeface="+mn-lt"/>
                <a:hlinkClick r:id="rId5"/>
              </a:rPr>
              <a:t>engr.zain@iub.edu.pk</a:t>
            </a:r>
            <a:endParaRPr lang="en-US" sz="2200" dirty="0">
              <a:latin typeface="+mn-lt"/>
            </a:endParaRPr>
          </a:p>
          <a:p>
            <a:pPr algn="ctr"/>
            <a:endParaRPr lang="en-US" sz="3200" b="1" dirty="0">
              <a:latin typeface="+mn-lt"/>
            </a:endParaRPr>
          </a:p>
        </p:txBody>
      </p:sp>
      <p:sp>
        <p:nvSpPr>
          <p:cNvPr id="127" name="TextBox 5">
            <a:extLst>
              <a:ext uri="{FF2B5EF4-FFF2-40B4-BE49-F238E27FC236}">
                <a16:creationId xmlns:a16="http://schemas.microsoft.com/office/drawing/2014/main" id="{7E928D9D-E8B7-42BF-98F1-04F20C04D11C}"/>
              </a:ext>
            </a:extLst>
          </p:cNvPr>
          <p:cNvSpPr txBox="1"/>
          <p:nvPr/>
        </p:nvSpPr>
        <p:spPr>
          <a:xfrm>
            <a:off x="373413" y="16706148"/>
            <a:ext cx="4355563" cy="58477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Metal Detection Process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2032CFE-E425-4E95-8E99-250B10F84123}"/>
              </a:ext>
            </a:extLst>
          </p:cNvPr>
          <p:cNvSpPr/>
          <p:nvPr/>
        </p:nvSpPr>
        <p:spPr>
          <a:xfrm>
            <a:off x="380695" y="12703867"/>
            <a:ext cx="5040854" cy="398148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5571205-23BB-49FF-A826-F75ED33FA02B}"/>
              </a:ext>
            </a:extLst>
          </p:cNvPr>
          <p:cNvSpPr/>
          <p:nvPr/>
        </p:nvSpPr>
        <p:spPr>
          <a:xfrm>
            <a:off x="380694" y="19558575"/>
            <a:ext cx="5115054" cy="17533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Title 1">
            <a:extLst>
              <a:ext uri="{FF2B5EF4-FFF2-40B4-BE49-F238E27FC236}">
                <a16:creationId xmlns:a16="http://schemas.microsoft.com/office/drawing/2014/main" id="{7C5F721C-344E-42FF-925F-A10C5EA4BA3A}"/>
              </a:ext>
            </a:extLst>
          </p:cNvPr>
          <p:cNvSpPr>
            <a:spLocks noGrp="1"/>
          </p:cNvSpPr>
          <p:nvPr/>
        </p:nvSpPr>
        <p:spPr>
          <a:xfrm>
            <a:off x="250296" y="10674618"/>
            <a:ext cx="10640947" cy="898918"/>
          </a:xfrm>
          <a:prstGeom prst="rect">
            <a:avLst/>
          </a:prstGeom>
          <a:solidFill>
            <a:srgbClr val="7030A0"/>
          </a:solidFill>
          <a:ln>
            <a:solidFill>
              <a:srgbClr val="0070C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1E241A3-0D0D-41E4-9BAE-CD873BEF95B0}"/>
              </a:ext>
            </a:extLst>
          </p:cNvPr>
          <p:cNvSpPr/>
          <p:nvPr/>
        </p:nvSpPr>
        <p:spPr>
          <a:xfrm>
            <a:off x="250296" y="11540434"/>
            <a:ext cx="10635032" cy="987176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TextBox 5">
            <a:extLst>
              <a:ext uri="{FF2B5EF4-FFF2-40B4-BE49-F238E27FC236}">
                <a16:creationId xmlns:a16="http://schemas.microsoft.com/office/drawing/2014/main" id="{226B50EF-741E-42D9-AE77-B2AA2C0C7B00}"/>
              </a:ext>
            </a:extLst>
          </p:cNvPr>
          <p:cNvSpPr txBox="1"/>
          <p:nvPr/>
        </p:nvSpPr>
        <p:spPr>
          <a:xfrm>
            <a:off x="345339" y="11658600"/>
            <a:ext cx="10160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r>
              <a:rPr lang="en-US" sz="2400" dirty="0">
                <a:latin typeface="+mn-lt"/>
              </a:rPr>
              <a:t>The system consists of both hardware and software.</a:t>
            </a:r>
          </a:p>
          <a:p>
            <a:pPr algn="just"/>
            <a:endParaRPr lang="en-US" sz="2400" dirty="0">
              <a:latin typeface="+mn-lt"/>
            </a:endParaRPr>
          </a:p>
        </p:txBody>
      </p:sp>
      <p:sp>
        <p:nvSpPr>
          <p:cNvPr id="168" name="TextBox 5">
            <a:extLst>
              <a:ext uri="{FF2B5EF4-FFF2-40B4-BE49-F238E27FC236}">
                <a16:creationId xmlns:a16="http://schemas.microsoft.com/office/drawing/2014/main" id="{60598D27-84D0-4C71-B4BE-49F55BB218F8}"/>
              </a:ext>
            </a:extLst>
          </p:cNvPr>
          <p:cNvSpPr txBox="1"/>
          <p:nvPr/>
        </p:nvSpPr>
        <p:spPr>
          <a:xfrm>
            <a:off x="331804" y="18973800"/>
            <a:ext cx="4209500" cy="58477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Manipulator Activation</a:t>
            </a:r>
          </a:p>
        </p:txBody>
      </p:sp>
      <p:sp>
        <p:nvSpPr>
          <p:cNvPr id="171" name="TextBox 5">
            <a:extLst>
              <a:ext uri="{FF2B5EF4-FFF2-40B4-BE49-F238E27FC236}">
                <a16:creationId xmlns:a16="http://schemas.microsoft.com/office/drawing/2014/main" id="{65F3BB8E-4A8D-433C-A8A6-5D751D992EDA}"/>
              </a:ext>
            </a:extLst>
          </p:cNvPr>
          <p:cNvSpPr txBox="1"/>
          <p:nvPr/>
        </p:nvSpPr>
        <p:spPr>
          <a:xfrm>
            <a:off x="23125672" y="10417076"/>
            <a:ext cx="92589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n-GB" sz="2400" dirty="0">
                <a:latin typeface="+mn-lt"/>
              </a:rPr>
              <a:t>The developed dual-ESP system successfully bridges the gap between low-cost hardware and complex safety logic.</a:t>
            </a:r>
          </a:p>
          <a:p>
            <a:pPr marL="457200" indent="-457200" algn="just">
              <a:buAutoNum type="arabicPeriod"/>
            </a:pPr>
            <a:r>
              <a:rPr lang="en-GB" sz="2400" dirty="0">
                <a:latin typeface="+mn-lt"/>
              </a:rPr>
              <a:t> By providing both camera-guided Manual and GPS-guided Automatic modes, the robot offers immense flexibility for different operational terrains.</a:t>
            </a:r>
          </a:p>
          <a:p>
            <a:pPr marL="457200" indent="-457200" algn="just">
              <a:buAutoNum type="arabicPeriod"/>
            </a:pPr>
            <a:r>
              <a:rPr lang="en-GB" sz="2400" dirty="0">
                <a:latin typeface="+mn-lt"/>
              </a:rPr>
              <a:t> This project drastically enhances safety and reduces human involvement in preliminary landmine detection tasks.</a:t>
            </a:r>
            <a:endParaRPr lang="en-US" sz="2400" dirty="0">
              <a:latin typeface="+mn-lt"/>
            </a:endParaRPr>
          </a:p>
        </p:txBody>
      </p:sp>
      <p:sp>
        <p:nvSpPr>
          <p:cNvPr id="175" name="TextBox 5">
            <a:extLst>
              <a:ext uri="{FF2B5EF4-FFF2-40B4-BE49-F238E27FC236}">
                <a16:creationId xmlns:a16="http://schemas.microsoft.com/office/drawing/2014/main" id="{334DAAA1-F3E5-45FA-A31D-4261EA190846}"/>
              </a:ext>
            </a:extLst>
          </p:cNvPr>
          <p:cNvSpPr txBox="1"/>
          <p:nvPr/>
        </p:nvSpPr>
        <p:spPr>
          <a:xfrm>
            <a:off x="23058396" y="4958227"/>
            <a:ext cx="95342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Dual controllers ensured stable video and fast control. </a:t>
            </a: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+mn-lt"/>
              </a:rPr>
              <a:t>UART bridge proved reliable for seamless data exchange between the web server and the hardware control node</a:t>
            </a:r>
            <a:r>
              <a:rPr lang="en-US" altLang="en-US" sz="2400" dirty="0">
                <a:latin typeface="+mn-lt"/>
              </a:rPr>
              <a:t>Robot accurately detected metallic objects. </a:t>
            </a: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Emergency stop reacted instantly on detection. </a:t>
            </a: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+mn-lt"/>
              </a:rPr>
              <a:t>The robotic arm flawlessly executed its sequence, confirming perfect sensor-actuator coordination</a:t>
            </a:r>
            <a:endParaRPr lang="en-US" altLang="en-US" sz="2400" dirty="0">
              <a:latin typeface="+mn-lt"/>
            </a:endParaRPr>
          </a:p>
        </p:txBody>
      </p:sp>
      <p:sp>
        <p:nvSpPr>
          <p:cNvPr id="176" name="Title 1">
            <a:extLst>
              <a:ext uri="{FF2B5EF4-FFF2-40B4-BE49-F238E27FC236}">
                <a16:creationId xmlns:a16="http://schemas.microsoft.com/office/drawing/2014/main" id="{20D55414-2879-45B4-BA46-2798D6EA3B54}"/>
              </a:ext>
            </a:extLst>
          </p:cNvPr>
          <p:cNvSpPr>
            <a:spLocks noGrp="1"/>
          </p:cNvSpPr>
          <p:nvPr/>
        </p:nvSpPr>
        <p:spPr>
          <a:xfrm>
            <a:off x="22715252" y="16464137"/>
            <a:ext cx="9982200" cy="91901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Acknowledgement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6922B45-3625-4FA5-BAE8-1EE72359905F}"/>
              </a:ext>
            </a:extLst>
          </p:cNvPr>
          <p:cNvSpPr/>
          <p:nvPr/>
        </p:nvSpPr>
        <p:spPr>
          <a:xfrm>
            <a:off x="22715252" y="17369010"/>
            <a:ext cx="9967526" cy="1133153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TextBox 5">
            <a:extLst>
              <a:ext uri="{FF2B5EF4-FFF2-40B4-BE49-F238E27FC236}">
                <a16:creationId xmlns:a16="http://schemas.microsoft.com/office/drawing/2014/main" id="{414553B1-08D9-45BB-AF06-83716CA3A35B}"/>
              </a:ext>
            </a:extLst>
          </p:cNvPr>
          <p:cNvSpPr txBox="1"/>
          <p:nvPr/>
        </p:nvSpPr>
        <p:spPr>
          <a:xfrm>
            <a:off x="22873318" y="17497189"/>
            <a:ext cx="9322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algn="just"/>
            <a:r>
              <a:rPr lang="en-GB" sz="2400" dirty="0">
                <a:latin typeface="+mn-lt"/>
              </a:rPr>
              <a:t>The work was carried out independently by the authors with their own effort and initiative.</a:t>
            </a:r>
            <a:endParaRPr lang="en-US" sz="2400" dirty="0">
              <a:latin typeface="+mn-lt"/>
            </a:endParaRPr>
          </a:p>
        </p:txBody>
      </p:sp>
      <p:sp>
        <p:nvSpPr>
          <p:cNvPr id="180" name="TextBox 5">
            <a:extLst>
              <a:ext uri="{FF2B5EF4-FFF2-40B4-BE49-F238E27FC236}">
                <a16:creationId xmlns:a16="http://schemas.microsoft.com/office/drawing/2014/main" id="{06CB0471-856E-4E51-B07B-FDB27DA31F0C}"/>
              </a:ext>
            </a:extLst>
          </p:cNvPr>
          <p:cNvSpPr txBox="1"/>
          <p:nvPr/>
        </p:nvSpPr>
        <p:spPr>
          <a:xfrm>
            <a:off x="22963588" y="9543508"/>
            <a:ext cx="425689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Conclusion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2E0F94B-6116-4C01-B3D3-B60FF5AF35A3}"/>
              </a:ext>
            </a:extLst>
          </p:cNvPr>
          <p:cNvSpPr/>
          <p:nvPr/>
        </p:nvSpPr>
        <p:spPr>
          <a:xfrm>
            <a:off x="22984213" y="10106525"/>
            <a:ext cx="9521807" cy="34810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TextBox 5">
            <a:extLst>
              <a:ext uri="{FF2B5EF4-FFF2-40B4-BE49-F238E27FC236}">
                <a16:creationId xmlns:a16="http://schemas.microsoft.com/office/drawing/2014/main" id="{BDF43BB4-D081-4C46-A256-BA6079B28F23}"/>
              </a:ext>
            </a:extLst>
          </p:cNvPr>
          <p:cNvSpPr txBox="1"/>
          <p:nvPr/>
        </p:nvSpPr>
        <p:spPr>
          <a:xfrm>
            <a:off x="22963587" y="13713113"/>
            <a:ext cx="425689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Future Direction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C5F6187-5A8A-4E15-9B49-143C229F5AB9}"/>
              </a:ext>
            </a:extLst>
          </p:cNvPr>
          <p:cNvSpPr/>
          <p:nvPr/>
        </p:nvSpPr>
        <p:spPr>
          <a:xfrm>
            <a:off x="22984213" y="14271696"/>
            <a:ext cx="9501181" cy="193587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TextBox 5">
            <a:extLst>
              <a:ext uri="{FF2B5EF4-FFF2-40B4-BE49-F238E27FC236}">
                <a16:creationId xmlns:a16="http://schemas.microsoft.com/office/drawing/2014/main" id="{223E1CD1-2117-44BA-9733-E5A4EDB88871}"/>
              </a:ext>
            </a:extLst>
          </p:cNvPr>
          <p:cNvSpPr txBox="1"/>
          <p:nvPr/>
        </p:nvSpPr>
        <p:spPr>
          <a:xfrm>
            <a:off x="23133950" y="14517819"/>
            <a:ext cx="9258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lvl="0" indent="-457200" defTabSz="914400" eaLnBrk="0" hangingPunct="0"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Integrate OpenCV with ESP32-S3 for visual threat detection. </a:t>
            </a:r>
          </a:p>
          <a:p>
            <a:pPr marL="457200" lvl="0" indent="-457200" defTabSz="914400" eaLnBrk="0" hangingPunct="0">
              <a:buFont typeface="+mj-lt"/>
              <a:buAutoNum type="arabicPeriod"/>
            </a:pPr>
            <a:r>
              <a:rPr lang="en-GB" altLang="en-US" sz="2400" dirty="0">
                <a:latin typeface="Arial" panose="020B0604020202020204" pitchFamily="34" charset="0"/>
              </a:rPr>
              <a:t>Enhancing autonomous navigation accuracy using RTK (Real-Time Kinematic) GPS systems.</a:t>
            </a:r>
          </a:p>
          <a:p>
            <a:pPr marL="457200" lvl="0" indent="-457200" defTabSz="914400" eaLnBrk="0" hangingPunct="0">
              <a:buFont typeface="+mj-lt"/>
              <a:buAutoNum type="arabicPeriod"/>
            </a:pPr>
            <a:r>
              <a:rPr lang="en-US" altLang="en-US" sz="2400">
                <a:latin typeface="Arial" panose="020B0604020202020204" pitchFamily="34" charset="0"/>
              </a:rPr>
              <a:t>Upgrade </a:t>
            </a:r>
            <a:r>
              <a:rPr lang="en-US" altLang="en-US" sz="2400" dirty="0">
                <a:latin typeface="Arial" panose="020B0604020202020204" pitchFamily="34" charset="0"/>
              </a:rPr>
              <a:t>sensors for deeper soil detection. 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B558562F-0340-027A-0E3F-FE0E269E61B2}"/>
              </a:ext>
            </a:extLst>
          </p:cNvPr>
          <p:cNvSpPr txBox="1"/>
          <p:nvPr/>
        </p:nvSpPr>
        <p:spPr>
          <a:xfrm>
            <a:off x="5703601" y="12232573"/>
            <a:ext cx="5116799" cy="58477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Robot Operation Workflow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62BB5BEC-0BA0-B5FA-3652-334053258079}"/>
              </a:ext>
            </a:extLst>
          </p:cNvPr>
          <p:cNvSpPr txBox="1"/>
          <p:nvPr/>
        </p:nvSpPr>
        <p:spPr>
          <a:xfrm>
            <a:off x="5695498" y="12807173"/>
            <a:ext cx="54228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n-lt"/>
              </a:rPr>
              <a:t>Manual Mode:</a:t>
            </a:r>
            <a:r>
              <a:rPr lang="en-US" altLang="en-US" sz="2000" dirty="0">
                <a:latin typeface="+mn-lt"/>
              </a:rPr>
              <a:t> Dashboard controls robot live. </a:t>
            </a: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n-lt"/>
              </a:rPr>
              <a:t>Automatic Mode:</a:t>
            </a:r>
            <a:r>
              <a:rPr lang="en-US" altLang="en-US" sz="2000" dirty="0">
                <a:latin typeface="+mn-lt"/>
              </a:rPr>
              <a:t> GPS guides autonomous navigation. </a:t>
            </a: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n-lt"/>
              </a:rPr>
              <a:t>Continuous Scanning:</a:t>
            </a:r>
            <a:r>
              <a:rPr lang="en-US" altLang="en-US" sz="2000" dirty="0">
                <a:latin typeface="+mn-lt"/>
              </a:rPr>
              <a:t> Metal detector runs always.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68F776-75BA-8377-5A25-F3D565D4DD04}"/>
              </a:ext>
            </a:extLst>
          </p:cNvPr>
          <p:cNvSpPr/>
          <p:nvPr/>
        </p:nvSpPr>
        <p:spPr>
          <a:xfrm>
            <a:off x="5695708" y="12857609"/>
            <a:ext cx="5135094" cy="167491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E6C7432-D066-C52F-360C-D005B9E910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525" y="5180988"/>
            <a:ext cx="11428571" cy="114285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8AA9D2-5FCD-47C9-9FA5-336997CD655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908" y="14599087"/>
            <a:ext cx="4496774" cy="67505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BADF2E-4353-4331-50DA-B44DE64BCD85}"/>
              </a:ext>
            </a:extLst>
          </p:cNvPr>
          <p:cNvSpPr txBox="1"/>
          <p:nvPr/>
        </p:nvSpPr>
        <p:spPr>
          <a:xfrm>
            <a:off x="492466" y="16706148"/>
            <a:ext cx="49899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Metal detector scans ground continuously.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 processes detection instantly.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L298N stops robot immediately.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E194C-FBA4-D770-EC4D-3439566212C8}"/>
              </a:ext>
            </a:extLst>
          </p:cNvPr>
          <p:cNvSpPr txBox="1"/>
          <p:nvPr/>
        </p:nvSpPr>
        <p:spPr>
          <a:xfrm>
            <a:off x="533817" y="12366275"/>
            <a:ext cx="462007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Distributed processing for efficiency and stability.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ESP32-S3 CAM: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Handles web dashboard, user input, and live video streaming.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DevKit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Controls sensors, manipulator arm, and real-time tasks via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FreeRTOS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UART Bridge: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Transfers commands and alerts between both controllers.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L298N Driver: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precise movement and turning control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6D00C2-4B4B-FE31-465D-D7B430B21B7E}"/>
              </a:ext>
            </a:extLst>
          </p:cNvPr>
          <p:cNvSpPr txBox="1"/>
          <p:nvPr/>
        </p:nvSpPr>
        <p:spPr>
          <a:xfrm>
            <a:off x="292876" y="19503231"/>
            <a:ext cx="52630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Automatic Action: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Arm activates after stop to mark or inspect target.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Trigger: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Operator controls arm via dashboard using live camera feed. </a:t>
            </a:r>
          </a:p>
        </p:txBody>
      </p:sp>
    </p:spTree>
    <p:extLst>
      <p:ext uri="{BB962C8B-B14F-4D97-AF65-F5344CB8AC3E}">
        <p14:creationId xmlns:p14="http://schemas.microsoft.com/office/powerpoint/2010/main" val="30602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5252</TotalTime>
  <Words>574</Words>
  <Application>Microsoft Office PowerPoint</Application>
  <PresentationFormat>Custom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Arial Unicode MS</vt:lpstr>
      <vt:lpstr>Calibri</vt:lpstr>
      <vt:lpstr>Times New Roman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Engr Imran</cp:lastModifiedBy>
  <cp:revision>324</cp:revision>
  <cp:lastPrinted>2013-09-30T18:13:59Z</cp:lastPrinted>
  <dcterms:created xsi:type="dcterms:W3CDTF">2013-09-30T17:56:14Z</dcterms:created>
  <dcterms:modified xsi:type="dcterms:W3CDTF">2026-05-02T09:37:13Z</dcterms:modified>
</cp:coreProperties>
</file>